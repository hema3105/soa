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3" d="100"/>
          <a:sy n="83" d="100"/>
        </p:scale>
        <p:origin x="65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t>
        <a:bodyPr/>
        <a:lstStyle/>
        <a:p>
          <a:endParaRPr lang="en-IN"/>
        </a:p>
      </dgm:t>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07809C3A-1739-D230-186B-84454F605084}"/>
              </a:ext>
            </a:extLst>
          </p:cNvPr>
          <p:cNvSpPr>
            <a:spLocks noGrp="1"/>
          </p:cNvSpPr>
          <p:nvPr>
            <p:ph type="dt" sz="half" idx="10"/>
          </p:nvPr>
        </p:nvSpPr>
        <p:spPr/>
        <p:txBody>
          <a:bodyPr/>
          <a:lstStyle/>
          <a:p>
            <a:fld id="{E227863A-4956-4659-9192-3D74DA4F7578}" type="datetimeFigureOut">
              <a:rPr lang="en-US" smtClean="0"/>
              <a:t>8/29/2026</a:t>
            </a:fld>
            <a:endParaRPr lang="en-US"/>
          </a:p>
        </p:txBody>
      </p:sp>
      <p:sp>
        <p:nvSpPr>
          <p:cNvPr id="5" name="Footer Placeholder 4">
            <a:extLst>
              <a:ext uri="{FF2B5EF4-FFF2-40B4-BE49-F238E27FC236}">
                <a16:creationId xmlns:a16="http://schemas.microsoft.com/office/drawing/2014/main" xmlns=""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31B02B77-F303-2F09-80CB-35B74D2F58C9}"/>
              </a:ext>
            </a:extLst>
          </p:cNvPr>
          <p:cNvSpPr>
            <a:spLocks noGrp="1"/>
          </p:cNvSpPr>
          <p:nvPr>
            <p:ph type="dt" sz="half" idx="10"/>
          </p:nvPr>
        </p:nvSpPr>
        <p:spPr/>
        <p:txBody>
          <a:bodyPr/>
          <a:lstStyle/>
          <a:p>
            <a:fld id="{E227863A-4956-4659-9192-3D74DA4F7578}" type="datetimeFigureOut">
              <a:rPr lang="en-US" smtClean="0"/>
              <a:t>8/29/2026</a:t>
            </a:fld>
            <a:endParaRPr lang="en-US"/>
          </a:p>
        </p:txBody>
      </p:sp>
      <p:sp>
        <p:nvSpPr>
          <p:cNvPr id="5" name="Footer Placeholder 4">
            <a:extLst>
              <a:ext uri="{FF2B5EF4-FFF2-40B4-BE49-F238E27FC236}">
                <a16:creationId xmlns:a16="http://schemas.microsoft.com/office/drawing/2014/main" xmlns=""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AD602125-0289-3272-156D-A3C31E848252}"/>
              </a:ext>
            </a:extLst>
          </p:cNvPr>
          <p:cNvSpPr>
            <a:spLocks noGrp="1"/>
          </p:cNvSpPr>
          <p:nvPr>
            <p:ph type="dt" sz="half" idx="10"/>
          </p:nvPr>
        </p:nvSpPr>
        <p:spPr/>
        <p:txBody>
          <a:bodyPr/>
          <a:lstStyle/>
          <a:p>
            <a:fld id="{E227863A-4956-4659-9192-3D74DA4F7578}" type="datetimeFigureOut">
              <a:rPr lang="en-US" smtClean="0"/>
              <a:t>8/29/2026</a:t>
            </a:fld>
            <a:endParaRPr lang="en-US"/>
          </a:p>
        </p:txBody>
      </p:sp>
      <p:sp>
        <p:nvSpPr>
          <p:cNvPr id="5" name="Footer Placeholder 4">
            <a:extLst>
              <a:ext uri="{FF2B5EF4-FFF2-40B4-BE49-F238E27FC236}">
                <a16:creationId xmlns:a16="http://schemas.microsoft.com/office/drawing/2014/main" xmlns=""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3725E50E-F402-07A4-460F-3431CA999232}"/>
              </a:ext>
            </a:extLst>
          </p:cNvPr>
          <p:cNvSpPr>
            <a:spLocks noGrp="1"/>
          </p:cNvSpPr>
          <p:nvPr>
            <p:ph type="dt" sz="half" idx="10"/>
          </p:nvPr>
        </p:nvSpPr>
        <p:spPr/>
        <p:txBody>
          <a:bodyPr/>
          <a:lstStyle/>
          <a:p>
            <a:fld id="{E227863A-4956-4659-9192-3D74DA4F7578}" type="datetimeFigureOut">
              <a:rPr lang="en-US" smtClean="0"/>
              <a:t>8/29/2026</a:t>
            </a:fld>
            <a:endParaRPr lang="en-US"/>
          </a:p>
        </p:txBody>
      </p:sp>
      <p:sp>
        <p:nvSpPr>
          <p:cNvPr id="6" name="Footer Placeholder 5">
            <a:extLst>
              <a:ext uri="{FF2B5EF4-FFF2-40B4-BE49-F238E27FC236}">
                <a16:creationId xmlns:a16="http://schemas.microsoft.com/office/drawing/2014/main" xmlns=""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AD346DE1-9818-60AF-EAF8-FFED39BA5E89}"/>
              </a:ext>
            </a:extLst>
          </p:cNvPr>
          <p:cNvSpPr>
            <a:spLocks noGrp="1"/>
          </p:cNvSpPr>
          <p:nvPr>
            <p:ph type="dt" sz="half" idx="10"/>
          </p:nvPr>
        </p:nvSpPr>
        <p:spPr/>
        <p:txBody>
          <a:bodyPr/>
          <a:lstStyle/>
          <a:p>
            <a:fld id="{E227863A-4956-4659-9192-3D74DA4F7578}" type="datetimeFigureOut">
              <a:rPr lang="en-US" smtClean="0"/>
              <a:t>8/29/2026</a:t>
            </a:fld>
            <a:endParaRPr lang="en-US"/>
          </a:p>
        </p:txBody>
      </p:sp>
      <p:sp>
        <p:nvSpPr>
          <p:cNvPr id="8" name="Footer Placeholder 7">
            <a:extLst>
              <a:ext uri="{FF2B5EF4-FFF2-40B4-BE49-F238E27FC236}">
                <a16:creationId xmlns:a16="http://schemas.microsoft.com/office/drawing/2014/main" xmlns=""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5C796671-3C71-777F-3A4D-A89D7E5D68FA}"/>
              </a:ext>
            </a:extLst>
          </p:cNvPr>
          <p:cNvSpPr>
            <a:spLocks noGrp="1"/>
          </p:cNvSpPr>
          <p:nvPr>
            <p:ph type="dt" sz="half" idx="10"/>
          </p:nvPr>
        </p:nvSpPr>
        <p:spPr/>
        <p:txBody>
          <a:bodyPr/>
          <a:lstStyle/>
          <a:p>
            <a:fld id="{E227863A-4956-4659-9192-3D74DA4F7578}" type="datetimeFigureOut">
              <a:rPr lang="en-US" smtClean="0"/>
              <a:t>8/29/2026</a:t>
            </a:fld>
            <a:endParaRPr lang="en-US"/>
          </a:p>
        </p:txBody>
      </p:sp>
      <p:sp>
        <p:nvSpPr>
          <p:cNvPr id="4" name="Footer Placeholder 3">
            <a:extLst>
              <a:ext uri="{FF2B5EF4-FFF2-40B4-BE49-F238E27FC236}">
                <a16:creationId xmlns:a16="http://schemas.microsoft.com/office/drawing/2014/main" xmlns=""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EA8527A8-9BA5-6E6B-9B96-E6F6FADC46A2}"/>
              </a:ext>
            </a:extLst>
          </p:cNvPr>
          <p:cNvSpPr>
            <a:spLocks noGrp="1"/>
          </p:cNvSpPr>
          <p:nvPr>
            <p:ph type="dt" sz="half" idx="10"/>
          </p:nvPr>
        </p:nvSpPr>
        <p:spPr/>
        <p:txBody>
          <a:bodyPr/>
          <a:lstStyle/>
          <a:p>
            <a:fld id="{E227863A-4956-4659-9192-3D74DA4F7578}" type="datetimeFigureOut">
              <a:rPr lang="en-US" smtClean="0"/>
              <a:t>8/29/2026</a:t>
            </a:fld>
            <a:endParaRPr lang="en-US"/>
          </a:p>
        </p:txBody>
      </p:sp>
      <p:sp>
        <p:nvSpPr>
          <p:cNvPr id="3" name="Footer Placeholder 2">
            <a:extLst>
              <a:ext uri="{FF2B5EF4-FFF2-40B4-BE49-F238E27FC236}">
                <a16:creationId xmlns:a16="http://schemas.microsoft.com/office/drawing/2014/main" xmlns=""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E24C9A3-A390-80A1-50AD-21AB6B252580}"/>
              </a:ext>
            </a:extLst>
          </p:cNvPr>
          <p:cNvSpPr>
            <a:spLocks noGrp="1"/>
          </p:cNvSpPr>
          <p:nvPr>
            <p:ph type="dt" sz="half" idx="10"/>
          </p:nvPr>
        </p:nvSpPr>
        <p:spPr/>
        <p:txBody>
          <a:bodyPr/>
          <a:lstStyle/>
          <a:p>
            <a:fld id="{E227863A-4956-4659-9192-3D74DA4F7578}" type="datetimeFigureOut">
              <a:rPr lang="en-US" smtClean="0"/>
              <a:t>8/29/2026</a:t>
            </a:fld>
            <a:endParaRPr lang="en-US"/>
          </a:p>
        </p:txBody>
      </p:sp>
      <p:sp>
        <p:nvSpPr>
          <p:cNvPr id="6" name="Footer Placeholder 5">
            <a:extLst>
              <a:ext uri="{FF2B5EF4-FFF2-40B4-BE49-F238E27FC236}">
                <a16:creationId xmlns:a16="http://schemas.microsoft.com/office/drawing/2014/main" xmlns=""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AE767C3-2493-217A-8E1D-03F6BBB4ACBD}"/>
              </a:ext>
            </a:extLst>
          </p:cNvPr>
          <p:cNvSpPr>
            <a:spLocks noGrp="1"/>
          </p:cNvSpPr>
          <p:nvPr>
            <p:ph type="dt" sz="half" idx="10"/>
          </p:nvPr>
        </p:nvSpPr>
        <p:spPr/>
        <p:txBody>
          <a:bodyPr/>
          <a:lstStyle/>
          <a:p>
            <a:fld id="{E227863A-4956-4659-9192-3D74DA4F7578}" type="datetimeFigureOut">
              <a:rPr lang="en-US" smtClean="0"/>
              <a:t>8/29/2026</a:t>
            </a:fld>
            <a:endParaRPr lang="en-US"/>
          </a:p>
        </p:txBody>
      </p:sp>
      <p:sp>
        <p:nvSpPr>
          <p:cNvPr id="6" name="Footer Placeholder 5">
            <a:extLst>
              <a:ext uri="{FF2B5EF4-FFF2-40B4-BE49-F238E27FC236}">
                <a16:creationId xmlns:a16="http://schemas.microsoft.com/office/drawing/2014/main" xmlns=""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CCE7D405-5D32-C40F-1430-5F5A97DD4FAF}"/>
              </a:ext>
            </a:extLst>
          </p:cNvPr>
          <p:cNvSpPr>
            <a:spLocks noGrp="1"/>
          </p:cNvSpPr>
          <p:nvPr>
            <p:ph type="dt" sz="half" idx="10"/>
          </p:nvPr>
        </p:nvSpPr>
        <p:spPr/>
        <p:txBody>
          <a:bodyPr/>
          <a:lstStyle/>
          <a:p>
            <a:fld id="{E227863A-4956-4659-9192-3D74DA4F7578}" type="datetimeFigureOut">
              <a:rPr lang="en-US" smtClean="0"/>
              <a:t>8/29/2026</a:t>
            </a:fld>
            <a:endParaRPr lang="en-US"/>
          </a:p>
        </p:txBody>
      </p:sp>
      <p:sp>
        <p:nvSpPr>
          <p:cNvPr id="5" name="Footer Placeholder 4">
            <a:extLst>
              <a:ext uri="{FF2B5EF4-FFF2-40B4-BE49-F238E27FC236}">
                <a16:creationId xmlns:a16="http://schemas.microsoft.com/office/drawing/2014/main" xmlns=""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89095516-E45F-6DA1-08EA-04E781DF5CCB}"/>
              </a:ext>
            </a:extLst>
          </p:cNvPr>
          <p:cNvSpPr>
            <a:spLocks noGrp="1"/>
          </p:cNvSpPr>
          <p:nvPr>
            <p:ph type="dt" sz="half" idx="10"/>
          </p:nvPr>
        </p:nvSpPr>
        <p:spPr/>
        <p:txBody>
          <a:bodyPr/>
          <a:lstStyle/>
          <a:p>
            <a:fld id="{E227863A-4956-4659-9192-3D74DA4F7578}" type="datetimeFigureOut">
              <a:rPr lang="en-US" smtClean="0"/>
              <a:t>8/29/2026</a:t>
            </a:fld>
            <a:endParaRPr lang="en-US"/>
          </a:p>
        </p:txBody>
      </p:sp>
      <p:sp>
        <p:nvSpPr>
          <p:cNvPr id="5" name="Footer Placeholder 4">
            <a:extLst>
              <a:ext uri="{FF2B5EF4-FFF2-40B4-BE49-F238E27FC236}">
                <a16:creationId xmlns:a16="http://schemas.microsoft.com/office/drawing/2014/main" xmlns=""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29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29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29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29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29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29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29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29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29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29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29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8/29/2026</a:t>
            </a:fld>
            <a:endParaRPr lang="en-US"/>
          </a:p>
        </p:txBody>
      </p:sp>
      <p:sp>
        <p:nvSpPr>
          <p:cNvPr id="5" name="Footer Placeholder 4">
            <a:extLst>
              <a:ext uri="{FF2B5EF4-FFF2-40B4-BE49-F238E27FC236}">
                <a16:creationId xmlns:a16="http://schemas.microsoft.com/office/drawing/2014/main" xmlns=""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xmlns=""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29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svg"/><Relationship Id="rId7" Type="http://schemas.openxmlformats.org/officeDocument/2006/relationships/diagramQuickStyle" Target="../diagrams/quickStyle1.xml"/><Relationship Id="rId2" Type="http://schemas.openxmlformats.org/officeDocument/2006/relationships/image" Target="../media/image2.png"/><Relationship Id="rId1" Type="http://schemas.openxmlformats.org/officeDocument/2006/relationships/slideLayout" Target="../slideLayouts/slideLayout18.xml"/><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image" Target="../media/image1.png"/><Relationship Id="rId4" Type="http://schemas.openxmlformats.org/officeDocument/2006/relationships/hyperlink" Target="https://svgsilh.com/03a9f4/image/98809.html" TargetMode="External"/><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xmlns=""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smtClean="0">
                <a:solidFill>
                  <a:srgbClr val="FF0000"/>
                </a:solidFill>
                <a:latin typeface="Times New Roman" panose="02020603050405020304" pitchFamily="18" charset="0"/>
                <a:cs typeface="Times New Roman" panose="02020603050405020304" pitchFamily="18" charset="0"/>
              </a:rPr>
              <a:t>29-08-2026</a:t>
            </a:r>
            <a:endParaRPr lang="en-IN" sz="20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18" name="Table 17">
            <a:extLst>
              <a:ext uri="{FF2B5EF4-FFF2-40B4-BE49-F238E27FC236}">
                <a16:creationId xmlns:a16="http://schemas.microsoft.com/office/drawing/2014/main" xmlns="" id="{BD22BC4D-4857-7D81-7819-37B7BB426420}"/>
              </a:ext>
            </a:extLst>
          </p:cNvPr>
          <p:cNvGraphicFramePr>
            <a:graphicFrameLocks noGrp="1"/>
          </p:cNvGraphicFramePr>
          <p:nvPr>
            <p:extLst>
              <p:ext uri="{D42A27DB-BD31-4B8C-83A1-F6EECF244321}">
                <p14:modId xmlns:p14="http://schemas.microsoft.com/office/powerpoint/2010/main" val="2935675808"/>
              </p:ext>
            </p:extLst>
          </p:nvPr>
        </p:nvGraphicFramePr>
        <p:xfrm>
          <a:off x="8193271" y="4898509"/>
          <a:ext cx="3702050" cy="82296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xmlns=""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smtClean="0">
                          <a:solidFill>
                            <a:schemeClr val="dk1"/>
                          </a:solidFill>
                          <a:latin typeface="Times New Roman" panose="02020603050405020304" pitchFamily="18" charset="0"/>
                          <a:ea typeface="Cambria"/>
                          <a:cs typeface="Times New Roman" panose="02020603050405020304" pitchFamily="18" charset="0"/>
                        </a:rPr>
                        <a:t>G.V.S Hasini  - 2420030735</a:t>
                      </a:r>
                      <a:br>
                        <a:rPr lang="en-IN" sz="1600" b="1" kern="1200" dirty="0" smtClean="0">
                          <a:solidFill>
                            <a:schemeClr val="dk1"/>
                          </a:solidFill>
                          <a:latin typeface="Times New Roman" panose="02020603050405020304" pitchFamily="18" charset="0"/>
                          <a:ea typeface="Cambria"/>
                          <a:cs typeface="Times New Roman" panose="02020603050405020304" pitchFamily="18" charset="0"/>
                        </a:rPr>
                      </a:br>
                      <a:r>
                        <a:rPr lang="en-IN" sz="1600" b="1" kern="1200" dirty="0" err="1" smtClean="0">
                          <a:solidFill>
                            <a:schemeClr val="dk1"/>
                          </a:solidFill>
                          <a:latin typeface="Times New Roman" panose="02020603050405020304" pitchFamily="18" charset="0"/>
                          <a:ea typeface="Cambria"/>
                          <a:cs typeface="Times New Roman" panose="02020603050405020304" pitchFamily="18" charset="0"/>
                        </a:rPr>
                        <a:t>G.Hemalatha</a:t>
                      </a:r>
                      <a:r>
                        <a:rPr lang="en-IN" sz="1600" b="1" kern="1200" dirty="0" smtClean="0">
                          <a:solidFill>
                            <a:schemeClr val="dk1"/>
                          </a:solidFill>
                          <a:latin typeface="Times New Roman" panose="02020603050405020304" pitchFamily="18" charset="0"/>
                          <a:ea typeface="Cambria"/>
                          <a:cs typeface="Times New Roman" panose="02020603050405020304" pitchFamily="18" charset="0"/>
                        </a:rPr>
                        <a:t> - 2420030703</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xmlns="" val="4108782725"/>
                  </a:ext>
                </a:extLst>
              </a:tr>
            </a:tbl>
          </a:graphicData>
        </a:graphic>
      </p:graphicFrame>
      <p:grpSp>
        <p:nvGrpSpPr>
          <p:cNvPr id="21" name="Group 20">
            <a:extLst>
              <a:ext uri="{FF2B5EF4-FFF2-40B4-BE49-F238E27FC236}">
                <a16:creationId xmlns:a16="http://schemas.microsoft.com/office/drawing/2014/main" xmlns=""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xmlns=""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xmlns=""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xmlns="" id="{9091FADF-77DB-CB1D-CD72-56C53CF76308}"/>
              </a:ext>
            </a:extLst>
          </p:cNvPr>
          <p:cNvGraphicFramePr>
            <a:graphicFrameLocks noGrp="1"/>
          </p:cNvGraphicFramePr>
          <p:nvPr>
            <p:extLst>
              <p:ext uri="{D42A27DB-BD31-4B8C-83A1-F6EECF244321}">
                <p14:modId xmlns:p14="http://schemas.microsoft.com/office/powerpoint/2010/main" val="3054122992"/>
              </p:ext>
            </p:extLst>
          </p:nvPr>
        </p:nvGraphicFramePr>
        <p:xfrm>
          <a:off x="-795813" y="4774125"/>
          <a:ext cx="5902325" cy="1332118"/>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xmlns="" val="40058472"/>
                    </a:ext>
                  </a:extLst>
                </a:gridCol>
                <a:gridCol w="4528760">
                  <a:extLst>
                    <a:ext uri="{9D8B030D-6E8A-4147-A177-3AD203B41FA5}">
                      <a16:colId xmlns:a16="http://schemas.microsoft.com/office/drawing/2014/main" xmlns=""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err="1" smtClean="0">
                          <a:solidFill>
                            <a:schemeClr val="dk1"/>
                          </a:solidFill>
                          <a:latin typeface="Times New Roman" panose="02020603050405020304" pitchFamily="18" charset="0"/>
                          <a:ea typeface="Cambria"/>
                          <a:cs typeface="Times New Roman" panose="02020603050405020304" pitchFamily="18" charset="0"/>
                          <a:sym typeface="Cambria"/>
                        </a:rPr>
                        <a:t>Dr.Neelima</a:t>
                      </a:r>
                      <a:r>
                        <a:rPr lang="en-US" sz="1400" b="1" baseline="0" dirty="0" smtClean="0">
                          <a:solidFill>
                            <a:schemeClr val="dk1"/>
                          </a:solidFill>
                          <a:latin typeface="Times New Roman" panose="02020603050405020304" pitchFamily="18" charset="0"/>
                          <a:ea typeface="Cambria"/>
                          <a:cs typeface="Times New Roman" panose="02020603050405020304" pitchFamily="18" charset="0"/>
                          <a:sym typeface="Cambria"/>
                        </a:rPr>
                        <a:t> </a:t>
                      </a:r>
                      <a:r>
                        <a:rPr lang="en-US" sz="1400" b="1" baseline="0" dirty="0" err="1" smtClean="0">
                          <a:solidFill>
                            <a:schemeClr val="dk1"/>
                          </a:solidFill>
                          <a:latin typeface="Times New Roman" panose="02020603050405020304" pitchFamily="18" charset="0"/>
                          <a:ea typeface="Cambria"/>
                          <a:cs typeface="Times New Roman" panose="02020603050405020304" pitchFamily="18" charset="0"/>
                          <a:sym typeface="Cambria"/>
                        </a:rPr>
                        <a:t>Gogineni</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b="1" dirty="0" smtClean="0">
                          <a:solidFill>
                            <a:schemeClr val="dk1"/>
                          </a:solidFill>
                          <a:latin typeface="Times New Roman" panose="02020603050405020304" pitchFamily="18" charset="0"/>
                          <a:ea typeface="Cambria"/>
                          <a:cs typeface="Times New Roman" panose="02020603050405020304" pitchFamily="18" charset="0"/>
                          <a:sym typeface="Cambria"/>
                        </a:rPr>
                        <a:t>Department </a:t>
                      </a: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xmlns="" val="4108782725"/>
                  </a:ext>
                </a:extLst>
              </a:tr>
            </a:tbl>
          </a:graphicData>
        </a:graphic>
      </p:graphicFrame>
      <p:grpSp>
        <p:nvGrpSpPr>
          <p:cNvPr id="31" name="Group 30">
            <a:extLst>
              <a:ext uri="{FF2B5EF4-FFF2-40B4-BE49-F238E27FC236}">
                <a16:creationId xmlns:a16="http://schemas.microsoft.com/office/drawing/2014/main" xmlns=""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xmlns=""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xmlns=""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xmlns=""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xmlns=""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xmlns=""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xmlns="" id="{4EE5F681-D3B5-BC4B-8AA4-5688DCEEFB44}"/>
              </a:ext>
            </a:extLst>
          </p:cNvPr>
          <p:cNvSpPr/>
          <p:nvPr/>
        </p:nvSpPr>
        <p:spPr>
          <a:xfrm>
            <a:off x="660516" y="81085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xmlns=""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xmlns="" id="{DD4CF64F-3FB6-0CE4-B778-63C5D5A1D343}"/>
              </a:ext>
            </a:extLst>
          </p:cNvPr>
          <p:cNvSpPr txBox="1"/>
          <p:nvPr/>
        </p:nvSpPr>
        <p:spPr>
          <a:xfrm>
            <a:off x="738187" y="810857"/>
            <a:ext cx="10715625" cy="954107"/>
          </a:xfrm>
          <a:prstGeom prst="rect">
            <a:avLst/>
          </a:prstGeom>
          <a:noFill/>
        </p:spPr>
        <p:txBody>
          <a:bodyPr wrap="square">
            <a:spAutoFit/>
          </a:bodyPr>
          <a:lstStyle/>
          <a:p>
            <a:pPr lvl="0" algn="ctr">
              <a:defRPr/>
            </a:pPr>
            <a:r>
              <a:rPr lang="en-GB" sz="2800" dirty="0">
                <a:solidFill>
                  <a:schemeClr val="bg1"/>
                </a:solidFill>
                <a:latin typeface="Times New Roman" panose="02020603050405020304" pitchFamily="18" charset="0"/>
                <a:cs typeface="Times New Roman" panose="02020603050405020304" pitchFamily="18" charset="0"/>
              </a:rPr>
              <a:t>AI-Powered Smart Exhibition Management System with </a:t>
            </a:r>
            <a:r>
              <a:rPr lang="en-GB" sz="2800" dirty="0" err="1">
                <a:solidFill>
                  <a:schemeClr val="bg1"/>
                </a:solidFill>
                <a:latin typeface="Times New Roman" panose="02020603050405020304" pitchFamily="18" charset="0"/>
                <a:cs typeface="Times New Roman" panose="02020603050405020304" pitchFamily="18" charset="0"/>
              </a:rPr>
              <a:t>Agentic</a:t>
            </a:r>
            <a:r>
              <a:rPr lang="en-GB" sz="2800" dirty="0">
                <a:solidFill>
                  <a:schemeClr val="bg1"/>
                </a:solidFill>
                <a:latin typeface="Times New Roman" panose="02020603050405020304" pitchFamily="18" charset="0"/>
                <a:cs typeface="Times New Roman" panose="02020603050405020304" pitchFamily="18" charset="0"/>
              </a:rPr>
              <a:t> Event Assistant </a:t>
            </a:r>
            <a:endParaRPr kumimoji="0" lang="en-US" sz="2800" b="0"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xmlns=""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xmlns=""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xmlns=""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xmlns=""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xmlns=""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xmlns=""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xmlns=""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xmlns=""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xmlns=""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xmlns=""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xmlns=""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xmlns="" id="{FEE87FCF-6A51-9005-163C-5E3B5C1257B9}"/>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 uri="{837473B0-CC2E-450A-ABE3-18F120FF3D39}">
                  <a1611:picAttrSrcUrl xmlns:a1611="http://schemas.microsoft.com/office/drawing/2016/11/main" xmlns="" r:id="rId4"/>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xmlns=""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xmlns=""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xmlns="" id="{55B3B570-3194-94D5-869B-2F3E3E133BA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 uri="{837473B0-CC2E-450A-ABE3-18F120FF3D39}">
                  <a1611:picAttrSrcUrl xmlns:a1611="http://schemas.microsoft.com/office/drawing/2016/11/main" xmlns="" r:id="rId4"/>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xmlns="" id="{A01B3509-5090-7764-12FF-0CDB13E360A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 uri="{837473B0-CC2E-450A-ABE3-18F120FF3D39}">
                  <a1611:picAttrSrcUrl xmlns:a1611="http://schemas.microsoft.com/office/drawing/2016/11/main" xmlns="" r:id="rId4"/>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xmlns="" id="{4A5FDD7E-5A46-92A5-C963-19E091BBF72C}"/>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 uri="{837473B0-CC2E-450A-ABE3-18F120FF3D39}">
                  <a1611:picAttrSrcUrl xmlns:a1611="http://schemas.microsoft.com/office/drawing/2016/11/main" xmlns="" r:id="rId4"/>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xmlns="" id="{C50C5009-E2F0-E358-4C45-CAEADDEC93B4}"/>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 uri="{837473B0-CC2E-450A-ABE3-18F120FF3D39}">
                  <a1611:picAttrSrcUrl xmlns:a1611="http://schemas.microsoft.com/office/drawing/2016/11/main" xmlns="" r:id="rId4"/>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xmlns="" id="{F1D91F2F-C2FB-3146-467B-21A20C8410D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 uri="{837473B0-CC2E-450A-ABE3-18F120FF3D39}">
                  <a1611:picAttrSrcUrl xmlns:a1611="http://schemas.microsoft.com/office/drawing/2016/11/main" xmlns="" r:id="rId4"/>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xmlns="" id="{7B0FD951-BFA0-1228-E572-2BFE866AEE71}"/>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 uri="{837473B0-CC2E-450A-ABE3-18F120FF3D39}">
                  <a1611:picAttrSrcUrl xmlns:a1611="http://schemas.microsoft.com/office/drawing/2016/11/main" xmlns="" r:id="rId4"/>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xmlns=""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xmlns=""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0" name="Picture 9">
            <a:extLst>
              <a:ext uri="{FF2B5EF4-FFF2-40B4-BE49-F238E27FC236}">
                <a16:creationId xmlns:a16="http://schemas.microsoft.com/office/drawing/2014/main" xmlns="" id="{0B4D1914-919F-D842-1FC2-1BBFC0E95C24}"/>
              </a:ext>
            </a:extLst>
          </p:cNvPr>
          <p:cNvPicPr>
            <a:picLocks noChangeAspect="1"/>
          </p:cNvPicPr>
          <p:nvPr/>
        </p:nvPicPr>
        <p:blipFill>
          <a:blip r:embed="rId10"/>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xmlns="" id="{8DBD4C9C-9DEB-26F4-AA75-F51C06DD64DC}"/>
              </a:ext>
            </a:extLst>
          </p:cNvPr>
          <p:cNvSpPr txBox="1"/>
          <p:nvPr/>
        </p:nvSpPr>
        <p:spPr>
          <a:xfrm>
            <a:off x="3479833" y="454800"/>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xmlns=""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Rectangle 1"/>
          <p:cNvSpPr>
            <a:spLocks noChangeArrowheads="1"/>
          </p:cNvSpPr>
          <p:nvPr/>
        </p:nvSpPr>
        <p:spPr bwMode="auto">
          <a:xfrm>
            <a:off x="1196856" y="1394559"/>
            <a:ext cx="1002383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anose="020B0604020202020204" pitchFamily="34" charset="0"/>
              </a:rPr>
              <a:t>Traditional exhibition and event management systems rely heavily on manual processes for </a:t>
            </a:r>
            <a:r>
              <a:rPr kumimoji="0" lang="en-US" sz="1800" i="0" u="none" strike="noStrike" cap="none" normalizeH="0" baseline="0" dirty="0" smtClean="0">
                <a:ln>
                  <a:noFill/>
                </a:ln>
                <a:solidFill>
                  <a:schemeClr val="tx1"/>
                </a:solidFill>
                <a:effectLst/>
                <a:latin typeface="Arial" panose="020B0604020202020204" pitchFamily="34" charset="0"/>
              </a:rPr>
              <a:t>visitor registration, stall management, scheduling, navigation, communication, and feedback collection</a:t>
            </a:r>
            <a:r>
              <a:rPr kumimoji="0" lang="en-US" sz="1800" b="0" i="0" u="none" strike="noStrike" cap="none" normalizeH="0" baseline="0" dirty="0" smtClean="0">
                <a:ln>
                  <a:noFill/>
                </a:ln>
                <a:solidFill>
                  <a:schemeClr val="tx1"/>
                </a:solidFill>
                <a:effectLst/>
                <a:latin typeface="Arial" panose="020B0604020202020204" pitchFamily="34" charset="0"/>
              </a:rPr>
              <a:t>. Visitors often struggle to find relevant stalls, events, and sessions, while organizers face difficulties in managing large numbers of attendees, coordinating exhibitors, monitoring event activities, and providing personalized assistance.</a:t>
            </a:r>
            <a:br>
              <a:rPr kumimoji="0" lang="en-US" sz="1800" b="0" i="0" u="none" strike="noStrike" cap="none" normalizeH="0" baseline="0" dirty="0" smtClean="0">
                <a:ln>
                  <a:noFill/>
                </a:ln>
                <a:solidFill>
                  <a:schemeClr val="tx1"/>
                </a:solidFill>
                <a:effectLst/>
                <a:latin typeface="Arial" panose="020B0604020202020204" pitchFamily="34" charset="0"/>
              </a:rPr>
            </a:br>
            <a:r>
              <a:rPr kumimoji="0" lang="en-US" sz="1800" b="0" i="0" u="none" strike="noStrike" cap="none" normalizeH="0" baseline="0" dirty="0" smtClean="0">
                <a:ln>
                  <a:noFill/>
                </a:ln>
                <a:solidFill>
                  <a:schemeClr val="tx1"/>
                </a:solidFill>
                <a:effectLst/>
                <a:latin typeface="Arial" panose="020B0604020202020204" pitchFamily="34" charset="0"/>
              </a:rPr>
              <a:t>Therefore, there is a need for an </a:t>
            </a:r>
            <a:r>
              <a:rPr kumimoji="0" lang="en-US" sz="1800" i="0" u="none" strike="noStrike" cap="none" normalizeH="0" baseline="0" dirty="0" smtClean="0">
                <a:ln>
                  <a:noFill/>
                </a:ln>
                <a:solidFill>
                  <a:schemeClr val="tx1"/>
                </a:solidFill>
                <a:effectLst/>
                <a:latin typeface="Arial" panose="020B0604020202020204" pitchFamily="34" charset="0"/>
              </a:rPr>
              <a:t>AI-Powered Smart Exhibition Management System with an </a:t>
            </a:r>
            <a:r>
              <a:rPr kumimoji="0" lang="en-US" sz="1800" i="0" u="none" strike="noStrike" cap="none" normalizeH="0" baseline="0" dirty="0" err="1" smtClean="0">
                <a:ln>
                  <a:noFill/>
                </a:ln>
                <a:solidFill>
                  <a:schemeClr val="tx1"/>
                </a:solidFill>
                <a:effectLst/>
                <a:latin typeface="Arial" panose="020B0604020202020204" pitchFamily="34" charset="0"/>
              </a:rPr>
              <a:t>Agentic</a:t>
            </a:r>
            <a:r>
              <a:rPr kumimoji="0" lang="en-US" sz="1800" i="0" u="none" strike="noStrike" cap="none" normalizeH="0" baseline="0" dirty="0" smtClean="0">
                <a:ln>
                  <a:noFill/>
                </a:ln>
                <a:solidFill>
                  <a:schemeClr val="tx1"/>
                </a:solidFill>
                <a:effectLst/>
                <a:latin typeface="Arial" panose="020B0604020202020204" pitchFamily="34" charset="0"/>
              </a:rPr>
              <a:t> Event Assistant </a:t>
            </a:r>
            <a:r>
              <a:rPr kumimoji="0" lang="en-US" sz="1800" b="0" i="0" u="none" strike="noStrike" cap="none" normalizeH="0" baseline="0" dirty="0" smtClean="0">
                <a:ln>
                  <a:noFill/>
                </a:ln>
                <a:solidFill>
                  <a:schemeClr val="tx1"/>
                </a:solidFill>
                <a:effectLst/>
                <a:latin typeface="Arial" panose="020B0604020202020204" pitchFamily="34" charset="0"/>
              </a:rPr>
              <a:t>that can intelligently automate and coordinate exhibition-related activities. The system should use </a:t>
            </a:r>
            <a:r>
              <a:rPr kumimoji="0" lang="en-US" sz="1800" i="0" u="none" strike="noStrike" cap="none" normalizeH="0" baseline="0" dirty="0" smtClean="0">
                <a:ln>
                  <a:noFill/>
                </a:ln>
                <a:solidFill>
                  <a:schemeClr val="tx1"/>
                </a:solidFill>
                <a:effectLst/>
                <a:latin typeface="Arial" panose="020B0604020202020204" pitchFamily="34" charset="0"/>
              </a:rPr>
              <a:t>Artificial Intelligence and </a:t>
            </a:r>
            <a:r>
              <a:rPr kumimoji="0" lang="en-US" sz="1800" i="0" u="none" strike="noStrike" cap="none" normalizeH="0" baseline="0" dirty="0" err="1" smtClean="0">
                <a:ln>
                  <a:noFill/>
                </a:ln>
                <a:solidFill>
                  <a:schemeClr val="tx1"/>
                </a:solidFill>
                <a:effectLst/>
                <a:latin typeface="Arial" panose="020B0604020202020204" pitchFamily="34" charset="0"/>
              </a:rPr>
              <a:t>agentic</a:t>
            </a:r>
            <a:r>
              <a:rPr kumimoji="0" lang="en-US" sz="1800" i="0" u="none" strike="noStrike" cap="none" normalizeH="0" baseline="0" dirty="0" smtClean="0">
                <a:ln>
                  <a:noFill/>
                </a:ln>
                <a:solidFill>
                  <a:schemeClr val="tx1"/>
                </a:solidFill>
                <a:effectLst/>
                <a:latin typeface="Arial" panose="020B0604020202020204" pitchFamily="34" charset="0"/>
              </a:rPr>
              <a:t> capabilities </a:t>
            </a:r>
            <a:r>
              <a:rPr kumimoji="0" lang="en-US" sz="1800" b="0" i="0" u="none" strike="noStrike" cap="none" normalizeH="0" baseline="0" dirty="0" smtClean="0">
                <a:ln>
                  <a:noFill/>
                </a:ln>
                <a:solidFill>
                  <a:schemeClr val="tx1"/>
                </a:solidFill>
                <a:effectLst/>
                <a:latin typeface="Arial" panose="020B0604020202020204" pitchFamily="34" charset="0"/>
              </a:rPr>
              <a:t>to understand user requirements, provide personalized recommendations, answer queries, guide visitors, manage schedules, and assist organizers in real time.</a:t>
            </a:r>
            <a:br>
              <a:rPr kumimoji="0" lang="en-US" sz="1800" b="0" i="0" u="none" strike="noStrike" cap="none" normalizeH="0" baseline="0" dirty="0" smtClean="0">
                <a:ln>
                  <a:noFill/>
                </a:ln>
                <a:solidFill>
                  <a:schemeClr val="tx1"/>
                </a:solidFill>
                <a:effectLst/>
                <a:latin typeface="Arial" panose="020B0604020202020204" pitchFamily="34" charset="0"/>
              </a:rPr>
            </a:br>
            <a:r>
              <a:rPr kumimoji="0" lang="en-US" sz="1800" b="0" i="0" u="none" strike="noStrike" cap="none" normalizeH="0" baseline="0" dirty="0" smtClean="0">
                <a:ln>
                  <a:noFill/>
                </a:ln>
                <a:solidFill>
                  <a:schemeClr val="tx1"/>
                </a:solidFill>
                <a:effectLst/>
                <a:latin typeface="Arial" panose="020B0604020202020204" pitchFamily="34" charset="0"/>
              </a:rPr>
              <a:t>The proposed system aims to create a </a:t>
            </a:r>
            <a:r>
              <a:rPr kumimoji="0" lang="en-US" sz="1800" i="0" u="none" strike="noStrike" cap="none" normalizeH="0" baseline="0" dirty="0" smtClean="0">
                <a:ln>
                  <a:noFill/>
                </a:ln>
                <a:solidFill>
                  <a:schemeClr val="tx1"/>
                </a:solidFill>
                <a:effectLst/>
                <a:latin typeface="Arial" panose="020B0604020202020204" pitchFamily="34" charset="0"/>
              </a:rPr>
              <a:t>smart, interactive, and efficient exhibition environment </a:t>
            </a:r>
            <a:r>
              <a:rPr kumimoji="0" lang="en-US" sz="1800" b="0" i="0" u="none" strike="noStrike" cap="none" normalizeH="0" baseline="0" dirty="0" smtClean="0">
                <a:ln>
                  <a:noFill/>
                </a:ln>
                <a:solidFill>
                  <a:schemeClr val="tx1"/>
                </a:solidFill>
                <a:effectLst/>
                <a:latin typeface="Arial" panose="020B0604020202020204" pitchFamily="34" charset="0"/>
              </a:rPr>
              <a:t>where an AI agent acts as a virtual event assistant, reducing manual workload for organizers while improving the overall experience for visitors and exhibitors.</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xmlns="" id="{7F508849-A0DD-12D4-FD0D-5322CA138B2F}"/>
              </a:ext>
            </a:extLst>
          </p:cNvPr>
          <p:cNvSpPr txBox="1"/>
          <p:nvPr/>
        </p:nvSpPr>
        <p:spPr>
          <a:xfrm>
            <a:off x="2755769" y="148657"/>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xmlns=""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Rectangle 1"/>
          <p:cNvSpPr>
            <a:spLocks noChangeArrowheads="1"/>
          </p:cNvSpPr>
          <p:nvPr/>
        </p:nvSpPr>
        <p:spPr bwMode="auto">
          <a:xfrm>
            <a:off x="650449" y="894346"/>
            <a:ext cx="10683711"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Automate Exhibition Management</a:t>
            </a:r>
            <a:r>
              <a:rPr kumimoji="0" lang="en-US" sz="1800" b="0" i="0" u="none" strike="noStrike" cap="none" normalizeH="0" baseline="0" dirty="0" smtClean="0">
                <a:ln>
                  <a:noFill/>
                </a:ln>
                <a:solidFill>
                  <a:schemeClr val="tx1"/>
                </a:solidFill>
                <a:effectLst/>
                <a:latin typeface="Arial" panose="020B0604020202020204" pitchFamily="34" charset="0"/>
              </a:rPr>
              <a:t> – Reduce manual work in visitor registration, stall management, scheduling, and feedback collection.</a:t>
            </a:r>
          </a:p>
          <a:p>
            <a:pPr marR="0" lvl="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Develop an AI-Based Event Assistant</a:t>
            </a:r>
            <a:r>
              <a:rPr kumimoji="0" lang="en-US" sz="1800" b="0" i="0" u="none" strike="noStrike" cap="none" normalizeH="0" baseline="0" dirty="0" smtClean="0">
                <a:ln>
                  <a:noFill/>
                </a:ln>
                <a:solidFill>
                  <a:schemeClr val="tx1"/>
                </a:solidFill>
                <a:effectLst/>
                <a:latin typeface="Arial" panose="020B0604020202020204" pitchFamily="34" charset="0"/>
              </a:rPr>
              <a:t> – Provide instant and intelligent responses to visitors’ queries about the exhibition.</a:t>
            </a:r>
          </a:p>
          <a:p>
            <a:pPr marR="0" lvl="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Provide Personalized Recommendations</a:t>
            </a:r>
            <a:r>
              <a:rPr kumimoji="0" lang="en-US" sz="1800" b="0" i="0" u="none" strike="noStrike" cap="none" normalizeH="0" baseline="0" dirty="0" smtClean="0">
                <a:ln>
                  <a:noFill/>
                </a:ln>
                <a:solidFill>
                  <a:schemeClr val="tx1"/>
                </a:solidFill>
                <a:effectLst/>
                <a:latin typeface="Arial" panose="020B0604020202020204" pitchFamily="34" charset="0"/>
              </a:rPr>
              <a:t> – Recommend relevant stalls, products, sessions, and events based on visitor interests</a:t>
            </a:r>
          </a:p>
          <a:p>
            <a:pPr marR="0" lvl="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Enable Smart Navigation</a:t>
            </a:r>
            <a:r>
              <a:rPr kumimoji="0" lang="en-US" sz="1800" b="0" i="0" u="none" strike="noStrike" cap="none" normalizeH="0" baseline="0" dirty="0" smtClean="0">
                <a:ln>
                  <a:noFill/>
                </a:ln>
                <a:solidFill>
                  <a:schemeClr val="tx1"/>
                </a:solidFill>
                <a:effectLst/>
                <a:latin typeface="Arial" panose="020B0604020202020204" pitchFamily="34" charset="0"/>
              </a:rPr>
              <a:t> – Help visitors easily find stalls, sessions, facilities, and other important locations.</a:t>
            </a:r>
          </a:p>
          <a:p>
            <a:pPr marR="0" lvl="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Manage Event Schedules Efficiently</a:t>
            </a:r>
            <a:r>
              <a:rPr kumimoji="0" lang="en-US" sz="1800" b="0" i="0" u="none" strike="noStrike" cap="none" normalizeH="0" baseline="0" dirty="0" smtClean="0">
                <a:ln>
                  <a:noFill/>
                </a:ln>
                <a:solidFill>
                  <a:schemeClr val="tx1"/>
                </a:solidFill>
                <a:effectLst/>
                <a:latin typeface="Arial" panose="020B0604020202020204" pitchFamily="34" charset="0"/>
              </a:rPr>
              <a:t> – Allow visitors to view, plan, and receive reminders for upcoming events and sessions.</a:t>
            </a:r>
          </a:p>
          <a:p>
            <a:pPr marR="0" lvl="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Support Exhibitors and Organizers</a:t>
            </a:r>
            <a:r>
              <a:rPr kumimoji="0" lang="en-US" sz="1800" b="0" i="0" u="none" strike="noStrike" cap="none" normalizeH="0" baseline="0" dirty="0" smtClean="0">
                <a:ln>
                  <a:noFill/>
                </a:ln>
                <a:solidFill>
                  <a:schemeClr val="tx1"/>
                </a:solidFill>
                <a:effectLst/>
                <a:latin typeface="Arial" panose="020B0604020202020204" pitchFamily="34" charset="0"/>
              </a:rPr>
              <a:t> – Help manage exhibitors, monitor visitor engagement, and coordinate exhibition activities efficiently.</a:t>
            </a:r>
          </a:p>
          <a:p>
            <a:pPr marR="0" lvl="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Generate AI-Based Insights</a:t>
            </a:r>
            <a:r>
              <a:rPr kumimoji="0" lang="en-US" sz="1800" b="0" i="0" u="none" strike="noStrike" cap="none" normalizeH="0" baseline="0" dirty="0" smtClean="0">
                <a:ln>
                  <a:noFill/>
                </a:ln>
                <a:solidFill>
                  <a:schemeClr val="tx1"/>
                </a:solidFill>
                <a:effectLst/>
                <a:latin typeface="Arial" panose="020B0604020202020204" pitchFamily="34" charset="0"/>
              </a:rPr>
              <a:t> – Analyze visitor interactions, preferences, and feedback to provide useful insights for improving future exhibitions.</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xmlns="" id="{AACD11AD-3AF5-B626-2B60-0567E4585BB7}"/>
              </a:ext>
            </a:extLst>
          </p:cNvPr>
          <p:cNvGraphicFramePr>
            <a:graphicFrameLocks/>
          </p:cNvGraphicFramePr>
          <p:nvPr>
            <p:extLst>
              <p:ext uri="{D42A27DB-BD31-4B8C-83A1-F6EECF244321}">
                <p14:modId xmlns:p14="http://schemas.microsoft.com/office/powerpoint/2010/main" val="3035574565"/>
              </p:ext>
            </p:extLst>
          </p:nvPr>
        </p:nvGraphicFramePr>
        <p:xfrm>
          <a:off x="128015" y="692229"/>
          <a:ext cx="11969497" cy="6165771"/>
        </p:xfrm>
        <a:graphic>
          <a:graphicData uri="http://schemas.openxmlformats.org/drawingml/2006/table">
            <a:tbl>
              <a:tblPr firstRow="1" bandRow="1">
                <a:tableStyleId>{BC89EF96-8CEA-46FF-86C4-4CE0E7609802}</a:tableStyleId>
              </a:tblPr>
              <a:tblGrid>
                <a:gridCol w="1119573">
                  <a:extLst>
                    <a:ext uri="{9D8B030D-6E8A-4147-A177-3AD203B41FA5}">
                      <a16:colId xmlns:a16="http://schemas.microsoft.com/office/drawing/2014/main" xmlns="" val="20001"/>
                    </a:ext>
                  </a:extLst>
                </a:gridCol>
                <a:gridCol w="2339152">
                  <a:extLst>
                    <a:ext uri="{9D8B030D-6E8A-4147-A177-3AD203B41FA5}">
                      <a16:colId xmlns:a16="http://schemas.microsoft.com/office/drawing/2014/main" xmlns="" val="20002"/>
                    </a:ext>
                  </a:extLst>
                </a:gridCol>
                <a:gridCol w="2545609">
                  <a:extLst>
                    <a:ext uri="{9D8B030D-6E8A-4147-A177-3AD203B41FA5}">
                      <a16:colId xmlns:a16="http://schemas.microsoft.com/office/drawing/2014/main" xmlns="" val="20003"/>
                    </a:ext>
                  </a:extLst>
                </a:gridCol>
                <a:gridCol w="3019013">
                  <a:extLst>
                    <a:ext uri="{9D8B030D-6E8A-4147-A177-3AD203B41FA5}">
                      <a16:colId xmlns:a16="http://schemas.microsoft.com/office/drawing/2014/main" xmlns="" val="20004"/>
                    </a:ext>
                  </a:extLst>
                </a:gridCol>
                <a:gridCol w="2946150">
                  <a:extLst>
                    <a:ext uri="{9D8B030D-6E8A-4147-A177-3AD203B41FA5}">
                      <a16:colId xmlns:a16="http://schemas.microsoft.com/office/drawing/2014/main" xmlns="" val="1396003017"/>
                    </a:ext>
                  </a:extLst>
                </a:gridCol>
              </a:tblGrid>
              <a:tr h="541909">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xmlns="" val="10000"/>
                  </a:ext>
                </a:extLst>
              </a:tr>
              <a:tr h="1409680">
                <a:tc>
                  <a:txBody>
                    <a:bodyPr/>
                    <a:lstStyle/>
                    <a:p>
                      <a:r>
                        <a:rPr lang="en-IN" dirty="0"/>
                        <a:t>Authors</a:t>
                      </a:r>
                    </a:p>
                  </a:txBody>
                  <a:tcPr anchor="ctr"/>
                </a:tc>
                <a:tc>
                  <a:txBody>
                    <a:bodyPr/>
                    <a:lstStyle/>
                    <a:p>
                      <a:r>
                        <a:rPr lang="en-IN"/>
                        <a:t>Title of Paper</a:t>
                      </a:r>
                    </a:p>
                  </a:txBody>
                  <a:tcPr anchor="ctr"/>
                </a:tc>
                <a:tc>
                  <a:txBody>
                    <a:bodyPr/>
                    <a:lstStyle/>
                    <a:p>
                      <a:r>
                        <a:rPr lang="en-IN"/>
                        <a:t>Methodology</a:t>
                      </a:r>
                    </a:p>
                  </a:txBody>
                  <a:tcPr anchor="ctr"/>
                </a:tc>
                <a:tc>
                  <a:txBody>
                    <a:bodyPr/>
                    <a:lstStyle/>
                    <a:p>
                      <a:r>
                        <a:rPr lang="en-IN"/>
                        <a:t>Inferences</a:t>
                      </a:r>
                    </a:p>
                  </a:txBody>
                  <a:tcPr anchor="ctr"/>
                </a:tc>
                <a:tc>
                  <a:txBody>
                    <a:bodyPr/>
                    <a:lstStyle/>
                    <a:p>
                      <a:r>
                        <a:rPr lang="en-IN"/>
                        <a:t>Limitation/Future Work</a:t>
                      </a:r>
                    </a:p>
                  </a:txBody>
                  <a:tcPr anchor="ctr"/>
                </a:tc>
                <a:extLst>
                  <a:ext uri="{0D108BD9-81ED-4DB2-BD59-A6C34878D82A}">
                    <a16:rowId xmlns:a16="http://schemas.microsoft.com/office/drawing/2014/main" xmlns="" val="3714155954"/>
                  </a:ext>
                </a:extLst>
              </a:tr>
              <a:tr h="1588341">
                <a:tc>
                  <a:txBody>
                    <a:bodyPr/>
                    <a:lstStyle/>
                    <a:p>
                      <a:r>
                        <a:rPr lang="en-IN"/>
                        <a:t>Lewis et al.</a:t>
                      </a:r>
                    </a:p>
                  </a:txBody>
                  <a:tcPr anchor="ctr"/>
                </a:tc>
                <a:tc>
                  <a:txBody>
                    <a:bodyPr/>
                    <a:lstStyle/>
                    <a:p>
                      <a:r>
                        <a:rPr lang="en-GB" i="1"/>
                        <a:t>Retrieval-Augmented Generation for Knowledge-Intensive NLP Tasks</a:t>
                      </a:r>
                      <a:endParaRPr lang="en-GB"/>
                    </a:p>
                  </a:txBody>
                  <a:tcPr anchor="ctr"/>
                </a:tc>
                <a:tc>
                  <a:txBody>
                    <a:bodyPr/>
                    <a:lstStyle/>
                    <a:p>
                      <a:r>
                        <a:rPr lang="en-IN"/>
                        <a:t>RAG</a:t>
                      </a:r>
                    </a:p>
                  </a:txBody>
                  <a:tcPr anchor="ctr"/>
                </a:tc>
                <a:tc>
                  <a:txBody>
                    <a:bodyPr/>
                    <a:lstStyle/>
                    <a:p>
                      <a:r>
                        <a:rPr lang="en-GB"/>
                        <a:t>Provides relevant answers using external knowledge.</a:t>
                      </a:r>
                    </a:p>
                  </a:txBody>
                  <a:tcPr anchor="ctr"/>
                </a:tc>
                <a:tc>
                  <a:txBody>
                    <a:bodyPr/>
                    <a:lstStyle/>
                    <a:p>
                      <a:r>
                        <a:rPr lang="en-GB"/>
                        <a:t>Depends on quality of knowledge base.</a:t>
                      </a:r>
                    </a:p>
                  </a:txBody>
                  <a:tcPr anchor="ctr"/>
                </a:tc>
              </a:tr>
              <a:tr h="1238411">
                <a:tc>
                  <a:txBody>
                    <a:bodyPr/>
                    <a:lstStyle/>
                    <a:p>
                      <a:r>
                        <a:rPr lang="en-IN"/>
                        <a:t>Wang et al.</a:t>
                      </a:r>
                    </a:p>
                  </a:txBody>
                  <a:tcPr anchor="ctr"/>
                </a:tc>
                <a:tc>
                  <a:txBody>
                    <a:bodyPr/>
                    <a:lstStyle/>
                    <a:p>
                      <a:r>
                        <a:rPr lang="en-IN" i="1"/>
                        <a:t>A Survey on Large Language Models</a:t>
                      </a:r>
                      <a:endParaRPr lang="en-IN"/>
                    </a:p>
                  </a:txBody>
                  <a:tcPr anchor="ctr"/>
                </a:tc>
                <a:tc>
                  <a:txBody>
                    <a:bodyPr/>
                    <a:lstStyle/>
                    <a:p>
                      <a:r>
                        <a:rPr lang="en-IN"/>
                        <a:t>Large Language Models</a:t>
                      </a:r>
                    </a:p>
                  </a:txBody>
                  <a:tcPr anchor="ctr"/>
                </a:tc>
                <a:tc>
                  <a:txBody>
                    <a:bodyPr/>
                    <a:lstStyle/>
                    <a:p>
                      <a:r>
                        <a:rPr lang="en-GB"/>
                        <a:t>LLMs can understand queries and generate natural responses.</a:t>
                      </a:r>
                    </a:p>
                  </a:txBody>
                  <a:tcPr anchor="ctr"/>
                </a:tc>
                <a:tc>
                  <a:txBody>
                    <a:bodyPr/>
                    <a:lstStyle/>
                    <a:p>
                      <a:r>
                        <a:rPr lang="en-GB"/>
                        <a:t>May generate incorrect information without proper grounding.</a:t>
                      </a:r>
                    </a:p>
                  </a:txBody>
                  <a:tcPr anchor="ctr"/>
                </a:tc>
                <a:extLst>
                  <a:ext uri="{0D108BD9-81ED-4DB2-BD59-A6C34878D82A}">
                    <a16:rowId xmlns:a16="http://schemas.microsoft.com/office/drawing/2014/main" xmlns="" val="2655426370"/>
                  </a:ext>
                </a:extLst>
              </a:tr>
              <a:tr h="1238411">
                <a:tc>
                  <a:txBody>
                    <a:bodyPr/>
                    <a:lstStyle/>
                    <a:p>
                      <a:r>
                        <a:rPr lang="en-IN"/>
                        <a:t>Wooldridge &amp; Jennings</a:t>
                      </a:r>
                    </a:p>
                  </a:txBody>
                  <a:tcPr anchor="ctr"/>
                </a:tc>
                <a:tc>
                  <a:txBody>
                    <a:bodyPr/>
                    <a:lstStyle/>
                    <a:p>
                      <a:r>
                        <a:rPr lang="en-GB" i="1"/>
                        <a:t>Intelligent Agents: Theory and Practice</a:t>
                      </a:r>
                      <a:endParaRPr lang="en-GB"/>
                    </a:p>
                  </a:txBody>
                  <a:tcPr anchor="ctr"/>
                </a:tc>
                <a:tc>
                  <a:txBody>
                    <a:bodyPr/>
                    <a:lstStyle/>
                    <a:p>
                      <a:r>
                        <a:rPr lang="en-IN" dirty="0"/>
                        <a:t>Intelligent Agents</a:t>
                      </a:r>
                    </a:p>
                  </a:txBody>
                  <a:tcPr anchor="ctr"/>
                </a:tc>
                <a:tc>
                  <a:txBody>
                    <a:bodyPr/>
                    <a:lstStyle/>
                    <a:p>
                      <a:r>
                        <a:rPr lang="en-GB"/>
                        <a:t>Agents can make decisions and perform tasks autonomously.</a:t>
                      </a:r>
                    </a:p>
                  </a:txBody>
                  <a:tcPr anchor="ctr"/>
                </a:tc>
                <a:tc>
                  <a:txBody>
                    <a:bodyPr/>
                    <a:lstStyle/>
                    <a:p>
                      <a:r>
                        <a:rPr lang="en-GB" dirty="0"/>
                        <a:t>General framework; not specifically designed for event management.</a:t>
                      </a:r>
                    </a:p>
                  </a:txBody>
                  <a:tcPr anchor="ctr"/>
                </a:tc>
                <a:extLst>
                  <a:ext uri="{0D108BD9-81ED-4DB2-BD59-A6C34878D82A}">
                    <a16:rowId xmlns:a16="http://schemas.microsoft.com/office/drawing/2014/main" xmlns="" val="2841575018"/>
                  </a:ext>
                </a:extLst>
              </a:tr>
            </a:tbl>
          </a:graphicData>
        </a:graphic>
      </p:graphicFrame>
      <p:sp>
        <p:nvSpPr>
          <p:cNvPr id="2" name="TextBox 1">
            <a:extLst>
              <a:ext uri="{FF2B5EF4-FFF2-40B4-BE49-F238E27FC236}">
                <a16:creationId xmlns:a16="http://schemas.microsoft.com/office/drawing/2014/main" xmlns=""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xmlns="" id="{A0FDE360-66C4-26CA-5DB9-8E99C2685BE0}"/>
              </a:ext>
            </a:extLst>
          </p:cNvPr>
          <p:cNvSpPr>
            <a:spLocks noGrp="1"/>
          </p:cNvSpPr>
          <p:nvPr>
            <p:ph type="dt" sz="half" idx="10"/>
          </p:nvPr>
        </p:nvSpPr>
        <p:spPr/>
        <p:txBody>
          <a:bodyPr/>
          <a:lstStyle/>
          <a:p>
            <a:endParaRPr lang="en-IN" dirty="0"/>
          </a:p>
        </p:txBody>
      </p:sp>
      <p:sp>
        <p:nvSpPr>
          <p:cNvPr id="9" name="Footer Placeholder 8">
            <a:extLst>
              <a:ext uri="{FF2B5EF4-FFF2-40B4-BE49-F238E27FC236}">
                <a16:creationId xmlns:a16="http://schemas.microsoft.com/office/drawing/2014/main" xmlns="" id="{0F095753-622E-2BA7-9495-60F9B6E57FDB}"/>
              </a:ext>
            </a:extLst>
          </p:cNvPr>
          <p:cNvSpPr>
            <a:spLocks noGrp="1"/>
          </p:cNvSpPr>
          <p:nvPr>
            <p:ph type="ftr" sz="quarter" idx="11"/>
          </p:nvPr>
        </p:nvSpPr>
        <p:spPr/>
        <p:txBody>
          <a:bodyPr/>
          <a:lstStyle/>
          <a:p>
            <a:endParaRPr lang="en-IN" dirty="0"/>
          </a:p>
        </p:txBody>
      </p:sp>
      <p:sp>
        <p:nvSpPr>
          <p:cNvPr id="10" name="Slide Number Placeholder 9">
            <a:extLst>
              <a:ext uri="{FF2B5EF4-FFF2-40B4-BE49-F238E27FC236}">
                <a16:creationId xmlns:a16="http://schemas.microsoft.com/office/drawing/2014/main" xmlns=""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xmlns=""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xmlns="" id="{C00062CA-E93E-DFB0-5A22-1412AB9A6752}"/>
              </a:ext>
            </a:extLst>
          </p:cNvPr>
          <p:cNvSpPr txBox="1"/>
          <p:nvPr/>
        </p:nvSpPr>
        <p:spPr>
          <a:xfrm>
            <a:off x="2906598" y="311275"/>
            <a:ext cx="6096000" cy="523220"/>
          </a:xfrm>
          <a:prstGeom prst="rect">
            <a:avLst/>
          </a:prstGeom>
          <a:noFill/>
        </p:spPr>
        <p:txBody>
          <a:bodyPr wrap="square">
            <a:spAutoFit/>
          </a:bodyPr>
          <a:lstStyle/>
          <a:p>
            <a:pPr algn="ctr"/>
            <a:r>
              <a:rPr lang="en-US" sz="2800" b="1" dirty="0"/>
              <a:t>Problem Gap Identification</a:t>
            </a:r>
          </a:p>
        </p:txBody>
      </p:sp>
      <p:pic>
        <p:nvPicPr>
          <p:cNvPr id="3" name="Picture 2">
            <a:extLst>
              <a:ext uri="{FF2B5EF4-FFF2-40B4-BE49-F238E27FC236}">
                <a16:creationId xmlns:a16="http://schemas.microsoft.com/office/drawing/2014/main" xmlns=""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Rectangle 1"/>
          <p:cNvSpPr>
            <a:spLocks noChangeArrowheads="1"/>
          </p:cNvSpPr>
          <p:nvPr/>
        </p:nvSpPr>
        <p:spPr bwMode="auto">
          <a:xfrm>
            <a:off x="187782" y="770487"/>
            <a:ext cx="11533631"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anose="020B0604020202020204" pitchFamily="34" charset="0"/>
              </a:rPr>
              <a:t>The </a:t>
            </a:r>
            <a:r>
              <a:rPr kumimoji="0" lang="en-US" sz="1800" i="0" u="none" strike="noStrike" cap="none" normalizeH="0" baseline="0" dirty="0" smtClean="0">
                <a:ln>
                  <a:noFill/>
                </a:ln>
                <a:solidFill>
                  <a:schemeClr val="tx1"/>
                </a:solidFill>
                <a:effectLst/>
                <a:latin typeface="Arial" panose="020B0604020202020204" pitchFamily="34" charset="0"/>
              </a:rPr>
              <a:t>existing exhibition management systems mainly focus on basic registration, stall information, event schedules, and manual management. </a:t>
            </a:r>
            <a:r>
              <a:rPr kumimoji="0" lang="en-US" sz="1800" b="0" i="0" u="none" strike="noStrike" cap="none" normalizeH="0" baseline="0" dirty="0" smtClean="0">
                <a:ln>
                  <a:noFill/>
                </a:ln>
                <a:solidFill>
                  <a:schemeClr val="tx1"/>
                </a:solidFill>
                <a:effectLst/>
                <a:latin typeface="Arial" panose="020B0604020202020204" pitchFamily="34" charset="0"/>
              </a:rPr>
              <a:t>They often lack intelligent and personalized assistance for visitors and organizers. The major gaps identified are: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Lack of Personalized Assistance</a:t>
            </a:r>
            <a:r>
              <a:rPr lang="en-US" dirty="0">
                <a:latin typeface="Arial" panose="020B0604020202020204" pitchFamily="34" charset="0"/>
              </a:rPr>
              <a:t> </a:t>
            </a:r>
            <a:r>
              <a:rPr lang="en-US" dirty="0" smtClean="0">
                <a:latin typeface="Arial" panose="020B0604020202020204" pitchFamily="34" charset="0"/>
              </a:rPr>
              <a:t>- </a:t>
            </a:r>
            <a:r>
              <a:rPr kumimoji="0" lang="en-US" sz="1800" b="0" i="0" u="none" strike="noStrike" cap="none" normalizeH="0" baseline="0" dirty="0" smtClean="0">
                <a:ln>
                  <a:noFill/>
                </a:ln>
                <a:solidFill>
                  <a:schemeClr val="tx1"/>
                </a:solidFill>
                <a:effectLst/>
                <a:latin typeface="Arial" panose="020B0604020202020204" pitchFamily="34" charset="0"/>
              </a:rPr>
              <a:t>Existing systems provide the same information to all visitors instead of recommending stalls, products, or sessions based on individual interests.</a:t>
            </a:r>
          </a:p>
          <a:p>
            <a:pPr marR="0" lvl="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Limited Real-Time Support</a:t>
            </a:r>
            <a:r>
              <a:rPr lang="en-US" dirty="0">
                <a:latin typeface="Arial" panose="020B0604020202020204" pitchFamily="34" charset="0"/>
              </a:rPr>
              <a:t> </a:t>
            </a:r>
            <a:r>
              <a:rPr lang="en-US" dirty="0" smtClean="0">
                <a:latin typeface="Arial" panose="020B0604020202020204" pitchFamily="34" charset="0"/>
              </a:rPr>
              <a:t>- </a:t>
            </a:r>
            <a:r>
              <a:rPr kumimoji="0" lang="en-US" sz="1800" b="0" i="0" u="none" strike="noStrike" cap="none" normalizeH="0" baseline="0" dirty="0" smtClean="0">
                <a:ln>
                  <a:noFill/>
                </a:ln>
                <a:solidFill>
                  <a:schemeClr val="tx1"/>
                </a:solidFill>
                <a:effectLst/>
                <a:latin typeface="Arial" panose="020B0604020202020204" pitchFamily="34" charset="0"/>
              </a:rPr>
              <a:t>Visitors may have to depend on staff or search through multiple pages to get answers to their questions. There is a lack of 24/7 AI-based assistance.</a:t>
            </a:r>
          </a:p>
          <a:p>
            <a:pPr marR="0" lvl="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Inefficient Navigation</a:t>
            </a:r>
            <a:r>
              <a:rPr lang="en-US" dirty="0" smtClean="0">
                <a:latin typeface="Arial" panose="020B0604020202020204" pitchFamily="34" charset="0"/>
              </a:rPr>
              <a:t> - </a:t>
            </a:r>
            <a:r>
              <a:rPr kumimoji="0" lang="en-US" sz="1800" b="0" i="0" u="none" strike="noStrike" cap="none" normalizeH="0" baseline="0" dirty="0" smtClean="0">
                <a:ln>
                  <a:noFill/>
                </a:ln>
                <a:solidFill>
                  <a:schemeClr val="tx1"/>
                </a:solidFill>
                <a:effectLst/>
                <a:latin typeface="Arial" panose="020B0604020202020204" pitchFamily="34" charset="0"/>
              </a:rPr>
              <a:t>Many systems do not provide intelligent guidance to help visitors quickly locate specific stalls, sessions, or facilities.</a:t>
            </a:r>
          </a:p>
          <a:p>
            <a:pPr marR="0" lvl="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Manual Event Management </a:t>
            </a:r>
            <a:r>
              <a:rPr lang="en-US" dirty="0" smtClean="0">
                <a:latin typeface="Arial" panose="020B0604020202020204" pitchFamily="34" charset="0"/>
              </a:rPr>
              <a:t>- </a:t>
            </a:r>
            <a:r>
              <a:rPr kumimoji="0" lang="en-US" sz="1800" b="0" i="0" u="none" strike="noStrike" cap="none" normalizeH="0" baseline="0" dirty="0" smtClean="0">
                <a:ln>
                  <a:noFill/>
                </a:ln>
                <a:solidFill>
                  <a:schemeClr val="tx1"/>
                </a:solidFill>
                <a:effectLst/>
                <a:latin typeface="Arial" panose="020B0604020202020204" pitchFamily="34" charset="0"/>
              </a:rPr>
              <a:t>Organizers often depend on manual processes for registrations, scheduling, notifications, and visitor management, which can lead to delays and errors.</a:t>
            </a:r>
          </a:p>
          <a:p>
            <a:pPr marR="0" lvl="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Limited Intelligent Decision-Making</a:t>
            </a:r>
            <a:r>
              <a:rPr lang="en-US" dirty="0">
                <a:latin typeface="Arial" panose="020B0604020202020204" pitchFamily="34" charset="0"/>
              </a:rPr>
              <a:t> </a:t>
            </a:r>
            <a:r>
              <a:rPr lang="en-US" dirty="0" smtClean="0">
                <a:latin typeface="Arial" panose="020B0604020202020204" pitchFamily="34" charset="0"/>
              </a:rPr>
              <a:t>- </a:t>
            </a:r>
            <a:r>
              <a:rPr kumimoji="0" lang="en-US" sz="1800" b="0" i="0" u="none" strike="noStrike" cap="none" normalizeH="0" baseline="0" dirty="0" smtClean="0">
                <a:ln>
                  <a:noFill/>
                </a:ln>
                <a:solidFill>
                  <a:schemeClr val="tx1"/>
                </a:solidFill>
                <a:effectLst/>
                <a:latin typeface="Arial" panose="020B0604020202020204" pitchFamily="34" charset="0"/>
              </a:rPr>
              <a:t>Existing platforms generally do not analyze visitor behavior, interests, and feedback to generate meaningful insights for organizers.</a:t>
            </a:r>
          </a:p>
          <a:p>
            <a:pPr marR="0" lvl="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Poor Integration Between Visitors and Exhibitors</a:t>
            </a:r>
            <a:r>
              <a:rPr lang="en-US" dirty="0">
                <a:latin typeface="Arial" panose="020B0604020202020204" pitchFamily="34" charset="0"/>
              </a:rPr>
              <a:t> </a:t>
            </a:r>
            <a:r>
              <a:rPr lang="en-US" dirty="0" smtClean="0">
                <a:latin typeface="Arial" panose="020B0604020202020204" pitchFamily="34" charset="0"/>
              </a:rPr>
              <a:t>- </a:t>
            </a:r>
            <a:r>
              <a:rPr kumimoji="0" lang="en-US" sz="1800" b="0" i="0" u="none" strike="noStrike" cap="none" normalizeH="0" baseline="0" dirty="0" smtClean="0">
                <a:ln>
                  <a:noFill/>
                </a:ln>
                <a:solidFill>
                  <a:schemeClr val="tx1"/>
                </a:solidFill>
                <a:effectLst/>
                <a:latin typeface="Arial" panose="020B0604020202020204" pitchFamily="34" charset="0"/>
              </a:rPr>
              <a:t>There is often no intelligent mechanism to connect visitors with relevant exhibitors based on their requirements and interests.</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xmlns="" id="{D4387226-F29E-0041-5581-4EF07C7198F1}"/>
              </a:ext>
            </a:extLst>
          </p:cNvPr>
          <p:cNvSpPr txBox="1"/>
          <p:nvPr/>
        </p:nvSpPr>
        <p:spPr>
          <a:xfrm>
            <a:off x="1893060" y="567351"/>
            <a:ext cx="8405879" cy="523220"/>
          </a:xfrm>
          <a:prstGeom prst="rect">
            <a:avLst/>
          </a:prstGeom>
          <a:noFill/>
        </p:spPr>
        <p:txBody>
          <a:bodyPr wrap="square">
            <a:spAutoFit/>
          </a:bodyPr>
          <a:lstStyle/>
          <a:p>
            <a:pPr algn="ctr"/>
            <a:r>
              <a:rPr lang="en-US" sz="2800" b="1" dirty="0"/>
              <a:t>Innovation, Creativity, and Novelty</a:t>
            </a:r>
          </a:p>
        </p:txBody>
      </p:sp>
      <p:pic>
        <p:nvPicPr>
          <p:cNvPr id="3" name="Picture 2">
            <a:extLst>
              <a:ext uri="{FF2B5EF4-FFF2-40B4-BE49-F238E27FC236}">
                <a16:creationId xmlns:a16="http://schemas.microsoft.com/office/drawing/2014/main" xmlns=""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Rectangle 1"/>
          <p:cNvSpPr>
            <a:spLocks noChangeArrowheads="1"/>
          </p:cNvSpPr>
          <p:nvPr/>
        </p:nvSpPr>
        <p:spPr bwMode="auto">
          <a:xfrm>
            <a:off x="777492" y="1420197"/>
            <a:ext cx="1029894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Innovation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i="0" u="none" strike="noStrike" cap="none" normalizeH="0" baseline="0" dirty="0" smtClean="0">
                <a:ln>
                  <a:noFill/>
                </a:ln>
                <a:solidFill>
                  <a:schemeClr val="tx1"/>
                </a:solidFill>
                <a:effectLst/>
                <a:latin typeface="Arial" panose="020B0604020202020204" pitchFamily="34" charset="0"/>
              </a:rPr>
              <a:t>The proposed system introduces an AI-powered </a:t>
            </a:r>
            <a:r>
              <a:rPr kumimoji="0" lang="en-US" sz="1800" i="0" u="none" strike="noStrike" cap="none" normalizeH="0" baseline="0" dirty="0" err="1" smtClean="0">
                <a:ln>
                  <a:noFill/>
                </a:ln>
                <a:solidFill>
                  <a:schemeClr val="tx1"/>
                </a:solidFill>
                <a:effectLst/>
                <a:latin typeface="Arial" panose="020B0604020202020204" pitchFamily="34" charset="0"/>
              </a:rPr>
              <a:t>Agentic</a:t>
            </a:r>
            <a:r>
              <a:rPr kumimoji="0" lang="en-US" sz="1800" i="0" u="none" strike="noStrike" cap="none" normalizeH="0" baseline="0" dirty="0" smtClean="0">
                <a:ln>
                  <a:noFill/>
                </a:ln>
                <a:solidFill>
                  <a:schemeClr val="tx1"/>
                </a:solidFill>
                <a:effectLst/>
                <a:latin typeface="Arial" panose="020B0604020202020204" pitchFamily="34" charset="0"/>
              </a:rPr>
              <a:t> Event Assistant that can understand visitor requirements and provide intelligent, real-time assistance. It can answer queries, recommend relevant stalls and events, provide reminders, and help visitors plan their exhibition activities based on their interests and available 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Creativity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i="0" u="none" strike="noStrike" cap="none" normalizeH="0" baseline="0" dirty="0" smtClean="0">
                <a:ln>
                  <a:noFill/>
                </a:ln>
                <a:solidFill>
                  <a:schemeClr val="tx1"/>
                </a:solidFill>
                <a:effectLst/>
                <a:latin typeface="Arial" panose="020B0604020202020204" pitchFamily="34" charset="0"/>
              </a:rPr>
              <a:t>The system creates a personalized and interactive exhibition experience by combining AI recommendations, smart navigation, event scheduling, and visitor–exhibitor matching. Instead of making visitors manually search for information, the AI assistant can guide them toward relevant stalls, products, sessions, and facilities according to their preferences.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Novelty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i="0" u="none" strike="noStrike" cap="none" normalizeH="0" baseline="0" dirty="0" smtClean="0">
                <a:ln>
                  <a:noFill/>
                </a:ln>
                <a:solidFill>
                  <a:schemeClr val="tx1"/>
                </a:solidFill>
                <a:effectLst/>
                <a:latin typeface="Arial" panose="020B0604020202020204" pitchFamily="34" charset="0"/>
              </a:rPr>
              <a:t>The novelty of the project lies in combining </a:t>
            </a:r>
            <a:r>
              <a:rPr kumimoji="0" lang="en-US" sz="1800" i="0" u="none" strike="noStrike" cap="none" normalizeH="0" baseline="0" dirty="0" err="1" smtClean="0">
                <a:ln>
                  <a:noFill/>
                </a:ln>
                <a:solidFill>
                  <a:schemeClr val="tx1"/>
                </a:solidFill>
                <a:effectLst/>
                <a:latin typeface="Arial" panose="020B0604020202020204" pitchFamily="34" charset="0"/>
              </a:rPr>
              <a:t>Agentic</a:t>
            </a:r>
            <a:r>
              <a:rPr kumimoji="0" lang="en-US" sz="1800" i="0" u="none" strike="noStrike" cap="none" normalizeH="0" baseline="0" dirty="0" smtClean="0">
                <a:ln>
                  <a:noFill/>
                </a:ln>
                <a:solidFill>
                  <a:schemeClr val="tx1"/>
                </a:solidFill>
                <a:effectLst/>
                <a:latin typeface="Arial" panose="020B0604020202020204" pitchFamily="34" charset="0"/>
              </a:rPr>
              <a:t> AI with exhibition management in a single platform. Unlike conventional event-management systems that mainly provide static information, this system can understand, reason, recommend, and assist users throughout the event. It can also analyze visitor interactions and feedback to generate useful insights for organizers and improve future exhibitions.</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xmlns="" id="{9EF7CE10-08D9-83CF-7508-12575531E1E0}"/>
              </a:ext>
            </a:extLst>
          </p:cNvPr>
          <p:cNvSpPr txBox="1"/>
          <p:nvPr/>
        </p:nvSpPr>
        <p:spPr>
          <a:xfrm>
            <a:off x="2615380" y="551058"/>
            <a:ext cx="7234014" cy="523220"/>
          </a:xfrm>
          <a:prstGeom prst="rect">
            <a:avLst/>
          </a:prstGeom>
          <a:noFill/>
        </p:spPr>
        <p:txBody>
          <a:bodyPr wrap="square">
            <a:spAutoFit/>
          </a:bodyPr>
          <a:lstStyle/>
          <a:p>
            <a:pPr algn="ctr"/>
            <a:r>
              <a:rPr lang="en-US" sz="2800" b="1" dirty="0"/>
              <a:t>Feasibility and Project Plan</a:t>
            </a:r>
          </a:p>
        </p:txBody>
      </p:sp>
      <p:sp>
        <p:nvSpPr>
          <p:cNvPr id="2" name="TextBox 1">
            <a:extLst>
              <a:ext uri="{FF2B5EF4-FFF2-40B4-BE49-F238E27FC236}">
                <a16:creationId xmlns:a16="http://schemas.microsoft.com/office/drawing/2014/main" xmlns="" id="{3F0303AA-CEE8-2513-1736-59CB3A5EF8E4}"/>
              </a:ext>
            </a:extLst>
          </p:cNvPr>
          <p:cNvSpPr txBox="1"/>
          <p:nvPr/>
        </p:nvSpPr>
        <p:spPr>
          <a:xfrm>
            <a:off x="1381398" y="1743891"/>
            <a:ext cx="184731" cy="369332"/>
          </a:xfrm>
          <a:prstGeom prst="rect">
            <a:avLst/>
          </a:prstGeom>
          <a:noFill/>
        </p:spPr>
        <p:txBody>
          <a:bodyPr wrap="none" rtlCol="0">
            <a:spAutoFit/>
          </a:bodyPr>
          <a:lstStyle/>
          <a:p>
            <a:endParaRPr lang="en-US" b="1" dirty="0">
              <a:solidFill>
                <a:srgbClr val="FF0000"/>
              </a:solidFill>
            </a:endParaRPr>
          </a:p>
        </p:txBody>
      </p:sp>
      <p:pic>
        <p:nvPicPr>
          <p:cNvPr id="4" name="Picture 3">
            <a:extLst>
              <a:ext uri="{FF2B5EF4-FFF2-40B4-BE49-F238E27FC236}">
                <a16:creationId xmlns:a16="http://schemas.microsoft.com/office/drawing/2014/main" xmlns=""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pic>
        <p:nvPicPr>
          <p:cNvPr id="6" name="Picture 5"/>
          <p:cNvPicPr>
            <a:picLocks noChangeAspect="1"/>
          </p:cNvPicPr>
          <p:nvPr/>
        </p:nvPicPr>
        <p:blipFill>
          <a:blip r:embed="rId3"/>
          <a:stretch>
            <a:fillRect/>
          </a:stretch>
        </p:blipFill>
        <p:spPr>
          <a:xfrm>
            <a:off x="173736" y="1463040"/>
            <a:ext cx="11109960" cy="5230367"/>
          </a:xfrm>
          <a:prstGeom prst="rect">
            <a:avLst/>
          </a:prstGeom>
        </p:spPr>
      </p:pic>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TotalTime>
  <Words>755</Words>
  <Application>Microsoft Office PowerPoint</Application>
  <PresentationFormat>Widescreen</PresentationFormat>
  <Paragraphs>106</Paragraphs>
  <Slides>8</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8</vt:i4>
      </vt:variant>
    </vt:vector>
  </HeadingPairs>
  <TitlesOfParts>
    <vt:vector size="17" baseType="lpstr">
      <vt:lpstr>Aptos</vt:lpstr>
      <vt:lpstr>Aptos Display</vt:lpstr>
      <vt:lpstr>Arial</vt:lpstr>
      <vt:lpstr>Calibri</vt:lpstr>
      <vt:lpstr>Calibri Light</vt:lpstr>
      <vt:lpstr>Cambria</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srikanth ch</dc:creator>
  <cp:lastModifiedBy>hasini</cp:lastModifiedBy>
  <cp:revision>35</cp:revision>
  <dcterms:created xsi:type="dcterms:W3CDTF">2026-08-08T06:33:56Z</dcterms:created>
  <dcterms:modified xsi:type="dcterms:W3CDTF">2026-08-29T04:45:20Z</dcterms:modified>
</cp:coreProperties>
</file>